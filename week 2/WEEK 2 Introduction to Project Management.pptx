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7" r:id="rId5"/>
    <p:sldId id="264" r:id="rId6"/>
    <p:sldId id="295" r:id="rId7"/>
    <p:sldId id="296" r:id="rId8"/>
    <p:sldId id="297" r:id="rId9"/>
    <p:sldId id="299" r:id="rId10"/>
    <p:sldId id="300" r:id="rId11"/>
    <p:sldId id="302" r:id="rId12"/>
    <p:sldId id="301" r:id="rId13"/>
    <p:sldId id="303" r:id="rId14"/>
    <p:sldId id="294" r:id="rId15"/>
    <p:sldId id="304" r:id="rId16"/>
    <p:sldId id="305" r:id="rId17"/>
    <p:sldId id="262" r:id="rId18"/>
    <p:sldId id="30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96312-78AD-4E29-A24D-58DEC3AD9E45}" v="23" dt="2025-07-25T08:26:30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2"/>
    <p:restoredTop sz="94310" autoAdjust="0"/>
  </p:normalViewPr>
  <p:slideViewPr>
    <p:cSldViewPr snapToGrid="0">
      <p:cViewPr varScale="1">
        <p:scale>
          <a:sx n="103" d="100"/>
          <a:sy n="103" d="100"/>
        </p:scale>
        <p:origin x="11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ila B. Valdez" userId="S::lbvaldez@national-u.edu.ph::a7cb7c4f-7331-473c-9519-a711c4385aec" providerId="AD" clId="Web-{1C696312-78AD-4E29-A24D-58DEC3AD9E45}"/>
    <pc:docChg chg="addSld modSld">
      <pc:chgData name="Leonila B. Valdez" userId="S::lbvaldez@national-u.edu.ph::a7cb7c4f-7331-473c-9519-a711c4385aec" providerId="AD" clId="Web-{1C696312-78AD-4E29-A24D-58DEC3AD9E45}" dt="2025-07-25T08:26:30.023" v="21" actId="14100"/>
      <pc:docMkLst>
        <pc:docMk/>
      </pc:docMkLst>
      <pc:sldChg chg="addSp modSp">
        <pc:chgData name="Leonila B. Valdez" userId="S::lbvaldez@national-u.edu.ph::a7cb7c4f-7331-473c-9519-a711c4385aec" providerId="AD" clId="Web-{1C696312-78AD-4E29-A24D-58DEC3AD9E45}" dt="2025-07-25T08:26:30.023" v="21" actId="14100"/>
        <pc:sldMkLst>
          <pc:docMk/>
          <pc:sldMk cId="1633078811" sldId="262"/>
        </pc:sldMkLst>
        <pc:spChg chg="mod">
          <ac:chgData name="Leonila B. Valdez" userId="S::lbvaldez@national-u.edu.ph::a7cb7c4f-7331-473c-9519-a711c4385aec" providerId="AD" clId="Web-{1C696312-78AD-4E29-A24D-58DEC3AD9E45}" dt="2025-07-25T08:26:12.100" v="16" actId="14100"/>
          <ac:spMkLst>
            <pc:docMk/>
            <pc:sldMk cId="1633078811" sldId="262"/>
            <ac:spMk id="2" creationId="{1FD87645-D8E6-23DE-A822-448BF1054783}"/>
          </ac:spMkLst>
        </pc:spChg>
        <pc:picChg chg="add mod">
          <ac:chgData name="Leonila B. Valdez" userId="S::lbvaldez@national-u.edu.ph::a7cb7c4f-7331-473c-9519-a711c4385aec" providerId="AD" clId="Web-{1C696312-78AD-4E29-A24D-58DEC3AD9E45}" dt="2025-07-25T08:26:30.023" v="21" actId="14100"/>
          <ac:picMkLst>
            <pc:docMk/>
            <pc:sldMk cId="1633078811" sldId="262"/>
            <ac:picMk id="3" creationId="{7DB1F63E-8A36-E1B7-9716-1D24F08C2DC8}"/>
          </ac:picMkLst>
        </pc:picChg>
      </pc:sldChg>
      <pc:sldChg chg="add replId">
        <pc:chgData name="Leonila B. Valdez" userId="S::lbvaldez@national-u.edu.ph::a7cb7c4f-7331-473c-9519-a711c4385aec" providerId="AD" clId="Web-{1C696312-78AD-4E29-A24D-58DEC3AD9E45}" dt="2025-07-25T08:25:42.490" v="0"/>
        <pc:sldMkLst>
          <pc:docMk/>
          <pc:sldMk cId="597623969" sldId="3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28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53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44304-4223-E42C-690F-368EC416D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9804A-A939-6E6C-7B1A-B394F8AD1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3DFD7-EA79-949E-A7D0-1505C76F3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45BC1-E8AA-BF46-F793-E91BE4BC8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24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7AACB-14D0-BFDC-E7BC-7D8E8269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C49EA-6A78-634B-A49B-79FA9415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6936C1-A44B-EFFE-8149-D8CF45951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8CE1C-A7CA-CC62-E68D-BC5C96BFC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68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7029B-3AA6-6BA1-CDA9-F7F762806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5512B-681E-CC16-16A6-079CE010F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48959-C5AD-D4B4-5F87-DAD598A6A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673BE-D5D2-A6F7-4A53-998B55C1F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14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BC49A-EA41-4C8E-5D98-2765AE1F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4C955-C763-B75B-6C73-C99A34B4B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5BF20-91E6-2384-77E8-A1D3660FF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4FA0B-123D-82EA-3560-F579DE1D6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00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A9C11-0839-0198-BC0A-A34D5479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76963-3A53-D5BE-2D0E-824347DD1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A44C8-429F-CF89-89E8-60706E954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FBDD9-D962-A098-B095-BBBDDF2EC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54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04CF7-7794-6FB4-83A2-C756A9D5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4DCE1-C2C4-8D77-2B4F-251178B68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10F7E-1640-1C3D-E4FD-8ED6AE125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C0E80-C9FE-7A3D-1D3E-BD43C7D17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81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B46C-2386-0079-6C2A-CC7D7D02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3F98D-ED04-87A0-9488-A868AC632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6BB4E-1364-A91C-FE4D-A4E5ADAB8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A0563-26A5-FCD8-2E21-BED50B94D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74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80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D28F-F379-E2F9-943C-28B553A15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6206D-DC96-3BDA-DBF7-6BE8F0D2D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B5F78-C0B2-9DCD-2FE5-69DA564AF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57CB5-8C4B-DE7F-764A-F7606353E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418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79364"/>
            <a:ext cx="9144000" cy="1099271"/>
          </a:xfrm>
        </p:spPr>
        <p:txBody>
          <a:bodyPr>
            <a:noAutofit/>
          </a:bodyPr>
          <a:lstStyle/>
          <a:p>
            <a:r>
              <a:rPr lang="en-US" i="0" u="none" strike="noStrike" dirty="0">
                <a:solidFill>
                  <a:srgbClr val="32418C"/>
                </a:solidFill>
                <a:effectLst/>
                <a:latin typeface="Aptos" panose="020B0004020202020204" pitchFamily="34" charset="0"/>
              </a:rPr>
              <a:t>Introduction </a:t>
            </a:r>
            <a:br>
              <a:rPr lang="en-US" i="0" u="none" strike="noStrike" dirty="0">
                <a:solidFill>
                  <a:srgbClr val="32418C"/>
                </a:solidFill>
                <a:effectLst/>
                <a:latin typeface="Aptos" panose="020B0004020202020204" pitchFamily="34" charset="0"/>
              </a:rPr>
            </a:br>
            <a:r>
              <a:rPr lang="en-US" i="0" u="none" strike="noStrike" dirty="0">
                <a:solidFill>
                  <a:srgbClr val="32418C"/>
                </a:solidFill>
                <a:effectLst/>
                <a:latin typeface="Aptos" panose="020B0004020202020204" pitchFamily="34" charset="0"/>
              </a:rPr>
              <a:t>to Project Management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6546"/>
            <a:ext cx="9144000" cy="975329"/>
          </a:xfrm>
        </p:spPr>
        <p:txBody>
          <a:bodyPr>
            <a:normAutofit/>
          </a:bodyPr>
          <a:lstStyle/>
          <a:p>
            <a:r>
              <a:rPr lang="en-US" dirty="0"/>
              <a:t>College of Computing and Information Technologies</a:t>
            </a:r>
          </a:p>
          <a:p>
            <a:r>
              <a:rPr lang="en-US" dirty="0"/>
              <a:t>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98FD-D3E5-8DA2-E7A1-6C4CBDE9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32418C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D6572-4CF4-47E1-4F21-50D66C70B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At the end of the discussion, each students will be able to:</a:t>
            </a:r>
          </a:p>
          <a:p>
            <a:pPr marL="0" indent="0" algn="just">
              <a:buNone/>
            </a:pPr>
            <a:endParaRPr lang="en-US" sz="1200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algn="just"/>
            <a:r>
              <a:rPr lang="en-US" dirty="0">
                <a:solidFill>
                  <a:srgbClr val="002060"/>
                </a:solidFill>
                <a:latin typeface="Aptos"/>
              </a:rPr>
              <a:t>Understand the fundamentals of project management in the IT context</a:t>
            </a:r>
          </a:p>
          <a:p>
            <a:pPr algn="just"/>
            <a:r>
              <a:rPr lang="en-US" dirty="0">
                <a:solidFill>
                  <a:srgbClr val="002060"/>
                </a:solidFill>
                <a:latin typeface="Aptos"/>
              </a:rPr>
              <a:t>Identify key roles and responsibilities in IT projects</a:t>
            </a:r>
          </a:p>
          <a:p>
            <a:pPr algn="just"/>
            <a:r>
              <a:rPr lang="en-US" dirty="0">
                <a:solidFill>
                  <a:srgbClr val="002060"/>
                </a:solidFill>
                <a:latin typeface="Aptos"/>
              </a:rPr>
              <a:t>Recognize the function of PMI and the PMBOK Guide</a:t>
            </a:r>
          </a:p>
          <a:p>
            <a:pPr algn="just"/>
            <a:r>
              <a:rPr lang="en-US" dirty="0">
                <a:solidFill>
                  <a:srgbClr val="002060"/>
                </a:solidFill>
                <a:latin typeface="Aptos"/>
              </a:rPr>
              <a:t>Analyze common challenges in IT project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6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98FD-D3E5-8DA2-E7A1-6C4CBDE9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32418C"/>
                </a:solidFill>
              </a:rPr>
              <a:t>Overview of Project Management and Its Relevance to IT</a:t>
            </a:r>
            <a:endParaRPr lang="en-US" sz="4000" i="1" dirty="0">
              <a:solidFill>
                <a:srgbClr val="32418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D6572-4CF4-47E1-4F21-50D66C70B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515" y="2706747"/>
            <a:ext cx="9915939" cy="241920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3300" dirty="0">
                <a:cs typeface="Arial" panose="020B0604020202020204" pitchFamily="34" charset="0"/>
              </a:rPr>
              <a:t>💡 What is Project Management?</a:t>
            </a:r>
          </a:p>
          <a:p>
            <a:r>
              <a:rPr lang="en-US" sz="3000" dirty="0">
                <a:cs typeface="Arial" panose="020B0604020202020204" pitchFamily="34" charset="0"/>
              </a:rPr>
              <a:t>“The application of knowledge, skills, tools, and techniques to project activities to meet project requirements.” – PMBOK, 7th Ed.</a:t>
            </a:r>
          </a:p>
          <a:p>
            <a:pPr marL="0" indent="0">
              <a:buNone/>
            </a:pPr>
            <a:endParaRPr lang="en-US" sz="3000" dirty="0">
              <a:cs typeface="Arial" panose="020B0604020202020204" pitchFamily="34" charset="0"/>
            </a:endParaRPr>
          </a:p>
          <a:p>
            <a:r>
              <a:rPr lang="en-US" sz="3000" dirty="0">
                <a:cs typeface="Arial" panose="020B0604020202020204" pitchFamily="34" charset="0"/>
              </a:rPr>
              <a:t>“Project management is a structured approach to planning, executing, monitoring, and closing temporary efforts to deliver a unique product or service .” </a:t>
            </a:r>
            <a:r>
              <a:rPr lang="en-US" sz="3000" dirty="0" err="1">
                <a:cs typeface="Arial" panose="020B0604020202020204" pitchFamily="34" charset="0"/>
              </a:rPr>
              <a:t>Portny</a:t>
            </a:r>
            <a:r>
              <a:rPr lang="en-US" sz="3000" dirty="0">
                <a:cs typeface="Arial" panose="020B0604020202020204" pitchFamily="34" charset="0"/>
              </a:rPr>
              <a:t>, 2020)</a:t>
            </a:r>
          </a:p>
        </p:txBody>
      </p:sp>
    </p:spTree>
    <p:extLst>
      <p:ext uri="{BB962C8B-B14F-4D97-AF65-F5344CB8AC3E}">
        <p14:creationId xmlns:p14="http://schemas.microsoft.com/office/powerpoint/2010/main" val="76732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BC03-BD9E-4C9A-99F6-831C8812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3A18-E994-3B67-E467-C3DD6DB5C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32418C"/>
                </a:solidFill>
              </a:rPr>
              <a:t>Overview of Project Management and Its Relevance to IT</a:t>
            </a:r>
            <a:endParaRPr lang="en-US" sz="4000" i="1" dirty="0">
              <a:solidFill>
                <a:srgbClr val="32418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A69E0-1F22-092A-44CA-9E0C00EFA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8713"/>
            <a:ext cx="9915939" cy="24192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💻 Why is it Important in IT?</a:t>
            </a:r>
          </a:p>
          <a:p>
            <a:pPr lvl="1" algn="just"/>
            <a:r>
              <a:rPr lang="en-US" sz="2600" dirty="0"/>
              <a:t>IT projects involve complex technologies, tight deadlines, and limited budgets.</a:t>
            </a:r>
          </a:p>
          <a:p>
            <a:pPr marL="0" indent="0" algn="just">
              <a:buNone/>
            </a:pPr>
            <a:r>
              <a:rPr lang="en-US" sz="2400" dirty="0"/>
              <a:t>Examples:</a:t>
            </a:r>
          </a:p>
          <a:p>
            <a:pPr lvl="1" algn="just"/>
            <a:r>
              <a:rPr lang="en-US" sz="2000" dirty="0"/>
              <a:t>Developing a mobile banking app</a:t>
            </a:r>
          </a:p>
          <a:p>
            <a:pPr lvl="1" algn="just"/>
            <a:r>
              <a:rPr lang="en-US" sz="2000" dirty="0"/>
              <a:t>Migrating a university’s data to the cloud</a:t>
            </a:r>
          </a:p>
          <a:p>
            <a:pPr lvl="1" algn="just"/>
            <a:r>
              <a:rPr lang="en-US" sz="2000" dirty="0"/>
              <a:t>Implementing an enterprise resource planning (ERP)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BA637-C9EF-279E-CB29-B9C0427DCBF9}"/>
              </a:ext>
            </a:extLst>
          </p:cNvPr>
          <p:cNvSpPr txBox="1"/>
          <p:nvPr/>
        </p:nvSpPr>
        <p:spPr>
          <a:xfrm>
            <a:off x="72312" y="709271"/>
            <a:ext cx="6116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[Cont..]</a:t>
            </a:r>
          </a:p>
        </p:txBody>
      </p:sp>
    </p:spTree>
    <p:extLst>
      <p:ext uri="{BB962C8B-B14F-4D97-AF65-F5344CB8AC3E}">
        <p14:creationId xmlns:p14="http://schemas.microsoft.com/office/powerpoint/2010/main" val="162845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E0048-CF45-C464-96D1-76435A61E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D9C29-AF4F-681A-A277-99FC8F11A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32418C"/>
                </a:solidFill>
              </a:rPr>
              <a:t>Overview of Project Management and Its Relevance to IT</a:t>
            </a:r>
            <a:endParaRPr lang="en-US" sz="4000" i="1" dirty="0">
              <a:solidFill>
                <a:srgbClr val="32418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56AAD-D4A1-6F18-7702-A6017D900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394" y="2716076"/>
            <a:ext cx="7792616" cy="2419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dirty="0"/>
              <a:t>📌 IT-Specific Relevance</a:t>
            </a:r>
          </a:p>
          <a:p>
            <a:pPr lvl="1" algn="just"/>
            <a:r>
              <a:rPr lang="en-US" dirty="0"/>
              <a:t>High rate of tech project failures or overruns</a:t>
            </a:r>
          </a:p>
          <a:p>
            <a:pPr lvl="1" algn="just"/>
            <a:r>
              <a:rPr lang="en-US" dirty="0"/>
              <a:t>Need for adaptive planning (Agile, DevOps)</a:t>
            </a:r>
          </a:p>
          <a:p>
            <a:pPr lvl="1" algn="just"/>
            <a:r>
              <a:rPr lang="en-US" dirty="0"/>
              <a:t>Cross-functional team coordination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6B790-B65B-FDA7-7C25-CE5BE531B469}"/>
              </a:ext>
            </a:extLst>
          </p:cNvPr>
          <p:cNvSpPr txBox="1"/>
          <p:nvPr/>
        </p:nvSpPr>
        <p:spPr>
          <a:xfrm>
            <a:off x="72312" y="709271"/>
            <a:ext cx="6116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[Cont..]</a:t>
            </a:r>
          </a:p>
        </p:txBody>
      </p:sp>
    </p:spTree>
    <p:extLst>
      <p:ext uri="{BB962C8B-B14F-4D97-AF65-F5344CB8AC3E}">
        <p14:creationId xmlns:p14="http://schemas.microsoft.com/office/powerpoint/2010/main" val="376096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4F28-F6CA-8007-566A-87E00857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A2E4-0961-03E0-D13F-5F017C00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10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32418C"/>
                </a:solidFill>
              </a:rPr>
              <a:t>Roles and Responsibilities in IT Projects</a:t>
            </a:r>
            <a:endParaRPr lang="en-US" sz="4000" i="1" dirty="0">
              <a:solidFill>
                <a:srgbClr val="32418C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66320BC-2403-3ECA-4AD5-D89D27D50E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6248108"/>
              </p:ext>
            </p:extLst>
          </p:nvPr>
        </p:nvGraphicFramePr>
        <p:xfrm>
          <a:off x="838200" y="1895703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6984">
                  <a:extLst>
                    <a:ext uri="{9D8B030D-6E8A-4147-A177-3AD203B41FA5}">
                      <a16:colId xmlns:a16="http://schemas.microsoft.com/office/drawing/2014/main" val="1534597861"/>
                    </a:ext>
                  </a:extLst>
                </a:gridCol>
                <a:gridCol w="6268616">
                  <a:extLst>
                    <a:ext uri="{9D8B030D-6E8A-4147-A177-3AD203B41FA5}">
                      <a16:colId xmlns:a16="http://schemas.microsoft.com/office/drawing/2014/main" val="3061323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</a:rPr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+mn-lt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601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+mn-lt"/>
                        </a:rPr>
                        <a:t>Project Manager (PM)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+mn-lt"/>
                        </a:rPr>
                        <a:t>Oversees scope, budget, timeline, risks,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464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+mn-lt"/>
                        </a:rPr>
                        <a:t>System Analyst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+mn-lt"/>
                        </a:rPr>
                        <a:t>Gathers requirements, analyzes feasibility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21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+mn-lt"/>
                        </a:rPr>
                        <a:t>Developers/Programmers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+mn-lt"/>
                        </a:rPr>
                        <a:t>Build and test software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88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+mn-lt"/>
                        </a:rPr>
                        <a:t>UI/UX Designers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+mn-lt"/>
                        </a:rPr>
                        <a:t>Ensure intuitive user interfaces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00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QA Testers</a:t>
                      </a:r>
                      <a:endParaRPr lang="en-US" sz="2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</a:rPr>
                        <a:t>Conduct functional and non-functional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6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Network/Infra Engineers</a:t>
                      </a:r>
                      <a:endParaRPr lang="en-US" sz="2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</a:rPr>
                        <a:t>Handle deployment, hardware, and 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789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+mn-lt"/>
                        </a:rPr>
                        <a:t>Stakeholders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</a:rPr>
                        <a:t>Internal or external parties with project interest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37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423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8D7BF-097F-B9A6-CA48-D5F22AD9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1056-3D54-3F1C-A177-042E287BC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32418C"/>
                </a:solidFill>
              </a:rPr>
              <a:t>Introduction to PMI and the PMBOK Guide</a:t>
            </a:r>
            <a:endParaRPr lang="en-US" sz="4000" i="1" dirty="0">
              <a:solidFill>
                <a:srgbClr val="32418C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A4ECC-8FB9-C80E-C2B7-6C1A3F22A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0012"/>
            <a:ext cx="10515600" cy="3003588"/>
          </a:xfrm>
        </p:spPr>
        <p:txBody>
          <a:bodyPr/>
          <a:lstStyle/>
          <a:p>
            <a:pPr algn="just"/>
            <a:r>
              <a:rPr lang="en-US" dirty="0"/>
              <a:t>Project Management Institute (PMI) – Global non-profit that promotes best practices in project management.</a:t>
            </a:r>
          </a:p>
          <a:p>
            <a:pPr algn="just"/>
            <a:r>
              <a:rPr lang="en-US" dirty="0"/>
              <a:t>Offers globally recognized certifications: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/>
              <a:t>PMP (Project Management Professional)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/>
              <a:t>CAPM (Certified Associate in Project Management)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CAAE92-E055-4EB8-109C-AF33AA1D7C6E}"/>
              </a:ext>
            </a:extLst>
          </p:cNvPr>
          <p:cNvSpPr txBox="1"/>
          <p:nvPr/>
        </p:nvSpPr>
        <p:spPr>
          <a:xfrm>
            <a:off x="761222" y="2151932"/>
            <a:ext cx="6116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📘 What is PMI?</a:t>
            </a:r>
          </a:p>
        </p:txBody>
      </p:sp>
    </p:spTree>
    <p:extLst>
      <p:ext uri="{BB962C8B-B14F-4D97-AF65-F5344CB8AC3E}">
        <p14:creationId xmlns:p14="http://schemas.microsoft.com/office/powerpoint/2010/main" val="2696646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4CDD3-43C1-8F69-7643-7EF63D99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1789C-6245-0F06-E2F9-DB473DAD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32418C"/>
                </a:solidFill>
              </a:rPr>
              <a:t>Introduction to PMI and the PMBOK Guide</a:t>
            </a:r>
            <a:endParaRPr lang="en-US" sz="4000" i="1" dirty="0">
              <a:solidFill>
                <a:srgbClr val="32418C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65CB3-96E0-F19C-0863-20CA3D917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674" y="2413542"/>
            <a:ext cx="10515600" cy="3003588"/>
          </a:xfrm>
        </p:spPr>
        <p:txBody>
          <a:bodyPr>
            <a:noAutofit/>
          </a:bodyPr>
          <a:lstStyle/>
          <a:p>
            <a:pPr algn="just"/>
            <a:r>
              <a:rPr lang="en-US" sz="2000" dirty="0"/>
              <a:t>Project Management Body of Knowledge</a:t>
            </a:r>
          </a:p>
          <a:p>
            <a:pPr algn="just"/>
            <a:r>
              <a:rPr lang="en-US" sz="2000" dirty="0"/>
              <a:t>A framework of standards, not a methodology</a:t>
            </a:r>
          </a:p>
          <a:p>
            <a:pPr algn="just"/>
            <a:r>
              <a:rPr lang="en-US" sz="2000" dirty="0"/>
              <a:t>Key Performance Domains (7th Ed.):</a:t>
            </a:r>
          </a:p>
          <a:p>
            <a:pPr marL="514350" indent="1111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 Stakeholders</a:t>
            </a:r>
          </a:p>
          <a:p>
            <a:pPr marL="514350" indent="1111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 Team</a:t>
            </a:r>
          </a:p>
          <a:p>
            <a:pPr marL="514350" indent="1111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 Development Approach &amp; Life Cycle</a:t>
            </a:r>
          </a:p>
          <a:p>
            <a:pPr marL="514350" indent="1111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 Planning</a:t>
            </a:r>
          </a:p>
          <a:p>
            <a:pPr marL="514350" indent="1111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 Project Work</a:t>
            </a:r>
          </a:p>
          <a:p>
            <a:pPr marL="514350" indent="1111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 Delivery</a:t>
            </a:r>
          </a:p>
          <a:p>
            <a:pPr marL="514350" indent="1111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 Measurement</a:t>
            </a:r>
          </a:p>
          <a:p>
            <a:pPr marL="514350" indent="1111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 Uncertainty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56F7EF-6EB3-9071-AE96-B4D7D306C0A3}"/>
              </a:ext>
            </a:extLst>
          </p:cNvPr>
          <p:cNvSpPr txBox="1"/>
          <p:nvPr/>
        </p:nvSpPr>
        <p:spPr>
          <a:xfrm>
            <a:off x="565279" y="1890322"/>
            <a:ext cx="6116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📗 What is PMBOK?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5BA54-A25E-62CF-CAB6-01EFF0F4AB49}"/>
              </a:ext>
            </a:extLst>
          </p:cNvPr>
          <p:cNvSpPr txBox="1"/>
          <p:nvPr/>
        </p:nvSpPr>
        <p:spPr>
          <a:xfrm>
            <a:off x="838200" y="6155684"/>
            <a:ext cx="10974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Example: A software company adopting Agile still uses PMBOK principles for risk tracking and stakeholder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61190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DBA3E-00F6-5BB0-5B5D-365D6B885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F327-D93C-B408-A364-C325847E1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32418C"/>
                </a:solidFill>
              </a:rPr>
              <a:t>Challenges in IT Project Management</a:t>
            </a:r>
            <a:endParaRPr lang="en-US" sz="4000" i="1" dirty="0">
              <a:solidFill>
                <a:srgbClr val="32418C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32DEF-8B45-F65B-3757-603F04438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206"/>
            <a:ext cx="10515600" cy="30035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⚠️ Common Challenges Scope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Creep – Requirements increase mid-project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Poor Communication – Technical and business teams disconnect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Unrealistic Deadlines – Misalignment of time and complexity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Inadequate Risk Management – Ignoring security, compliance risks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Technology Volatility – Rapid changes in frameworks, tools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💥 Real-World Example: </a:t>
            </a:r>
          </a:p>
          <a:p>
            <a:pPr lvl="1"/>
            <a:r>
              <a:rPr lang="en-US" dirty="0"/>
              <a:t>A university ERP system failed due to lack of end-user consultation and rigid timelines, leading to cost overruns and low adoption.</a:t>
            </a:r>
          </a:p>
        </p:txBody>
      </p:sp>
    </p:spTree>
    <p:extLst>
      <p:ext uri="{BB962C8B-B14F-4D97-AF65-F5344CB8AC3E}">
        <p14:creationId xmlns:p14="http://schemas.microsoft.com/office/powerpoint/2010/main" val="333879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60C5F-20FC-9870-4DB3-3DB8AE896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ED8D5-483D-EF2B-3B85-CCCCC3A6D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32418C"/>
                </a:solidFill>
              </a:rPr>
              <a:t>Best Practices for IT PM Success</a:t>
            </a:r>
            <a:endParaRPr lang="en-US" sz="4000" i="1" dirty="0">
              <a:solidFill>
                <a:srgbClr val="32418C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6DAA7-8262-951C-22D8-859169E5D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053" y="2044271"/>
            <a:ext cx="8352453" cy="3003588"/>
          </a:xfrm>
        </p:spPr>
        <p:txBody>
          <a:bodyPr/>
          <a:lstStyle/>
          <a:p>
            <a:r>
              <a:rPr lang="en-US" dirty="0"/>
              <a:t>Define clear requirements early</a:t>
            </a:r>
          </a:p>
          <a:p>
            <a:r>
              <a:rPr lang="en-US" dirty="0"/>
              <a:t>Use hybrid or Agile methodologies</a:t>
            </a:r>
          </a:p>
          <a:p>
            <a:r>
              <a:rPr lang="en-US" dirty="0"/>
              <a:t>Emphasize stakeholder engagement</a:t>
            </a:r>
          </a:p>
          <a:p>
            <a:r>
              <a:rPr lang="en-US" dirty="0"/>
              <a:t>Perform regular risk reviews</a:t>
            </a:r>
          </a:p>
          <a:p>
            <a:r>
              <a:rPr lang="en-US" dirty="0"/>
              <a:t>Invest in communication and documentation tools</a:t>
            </a:r>
          </a:p>
        </p:txBody>
      </p:sp>
    </p:spTree>
    <p:extLst>
      <p:ext uri="{BB962C8B-B14F-4D97-AF65-F5344CB8AC3E}">
        <p14:creationId xmlns:p14="http://schemas.microsoft.com/office/powerpoint/2010/main" val="3624242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98FD-D3E5-8DA2-E7A1-6C4CBDE9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2418C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B0ADD-49C4-1807-3136-CB68615BD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3358151"/>
          </a:xfrm>
        </p:spPr>
        <p:txBody>
          <a:bodyPr>
            <a:normAutofit/>
          </a:bodyPr>
          <a:lstStyle/>
          <a:p>
            <a:r>
              <a:rPr lang="en-US" dirty="0"/>
              <a:t>🔁 We covered:</a:t>
            </a:r>
          </a:p>
          <a:p>
            <a:r>
              <a:rPr lang="en-US" dirty="0"/>
              <a:t>The importance of project management in IT environments</a:t>
            </a:r>
          </a:p>
          <a:p>
            <a:r>
              <a:rPr lang="en-US" dirty="0"/>
              <a:t>Key roles and responsibilities within IT projects</a:t>
            </a:r>
          </a:p>
          <a:p>
            <a:r>
              <a:rPr lang="en-US" dirty="0"/>
              <a:t>The role of PMI and PMBOK in standardizing project work</a:t>
            </a:r>
          </a:p>
          <a:p>
            <a:r>
              <a:rPr lang="en-US" dirty="0"/>
              <a:t>Challenges and success factors in IT project delivery</a:t>
            </a:r>
            <a:endParaRPr lang="en-P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130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E489D-F444-E7C3-5212-0CD86BD84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02D98-37FF-EC65-A946-1DFBA3BF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2418C"/>
                </a:solidFill>
              </a:rPr>
              <a:t>Group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5A3E5-0783-5444-09D7-ECA5987FE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3358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💡 Activity: IT Project Team Composition:</a:t>
            </a:r>
          </a:p>
          <a:p>
            <a:r>
              <a:rPr lang="en-US" dirty="0"/>
              <a:t>Form groups of 4–5</a:t>
            </a:r>
          </a:p>
          <a:p>
            <a:r>
              <a:rPr lang="en-US" dirty="0"/>
              <a:t>Assign project roles (PM, Developer, Analyst, etc.)</a:t>
            </a:r>
          </a:p>
          <a:p>
            <a:r>
              <a:rPr lang="en-US" dirty="0"/>
              <a:t>Plan a sample IT project (e.g., Online Learning Platform)</a:t>
            </a:r>
          </a:p>
          <a:p>
            <a:r>
              <a:rPr lang="en-US" dirty="0"/>
              <a:t>Present a 2-minute role-based description of your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100449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EE058-B802-E78D-B01F-BBFB7208A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9CE1-6133-3454-F225-B5E13856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118" y="55578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32418C"/>
                </a:solidFill>
              </a:rPr>
              <a:t>Individual Activity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93A997-1904-8163-A97A-EE3ACF3F3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7978" y="1564269"/>
            <a:ext cx="5029201" cy="3729461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B20F20-690F-55A1-A07D-CE260F2BB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49" y="5154720"/>
            <a:ext cx="5290457" cy="16193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89B057-7806-1315-9F83-602F23B605EF}"/>
              </a:ext>
            </a:extLst>
          </p:cNvPr>
          <p:cNvSpPr txBox="1"/>
          <p:nvPr/>
        </p:nvSpPr>
        <p:spPr>
          <a:xfrm>
            <a:off x="6423160" y="2538621"/>
            <a:ext cx="421617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Understanding the Content </a:t>
            </a:r>
          </a:p>
          <a:p>
            <a:r>
              <a:rPr lang="en-US" sz="1400" dirty="0"/>
              <a:t>What are the main ideas or arguments presented in the journal? Discuss throughly.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646EE1-3C33-B649-381F-1CD1678C6FD5}"/>
              </a:ext>
            </a:extLst>
          </p:cNvPr>
          <p:cNvSpPr txBox="1"/>
          <p:nvPr/>
        </p:nvSpPr>
        <p:spPr>
          <a:xfrm>
            <a:off x="6303078" y="1813033"/>
            <a:ext cx="4918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to answer this activity: Fill-out the template and follow each provided guide.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1AF1A5-5F9A-DE7B-152B-535CF49E9035}"/>
              </a:ext>
            </a:extLst>
          </p:cNvPr>
          <p:cNvSpPr txBox="1"/>
          <p:nvPr/>
        </p:nvSpPr>
        <p:spPr>
          <a:xfrm>
            <a:off x="6423160" y="3401346"/>
            <a:ext cx="61162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Critical Analysis </a:t>
            </a:r>
          </a:p>
          <a:p>
            <a:r>
              <a:rPr lang="en-US" sz="1400" dirty="0"/>
              <a:t>Do you agree or disagree with the author’s perspective? Why?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9D2299-9ACC-32AE-6E41-604ED7736546}"/>
              </a:ext>
            </a:extLst>
          </p:cNvPr>
          <p:cNvSpPr txBox="1"/>
          <p:nvPr/>
        </p:nvSpPr>
        <p:spPr>
          <a:xfrm>
            <a:off x="6404498" y="4014997"/>
            <a:ext cx="63821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Application and Relevance </a:t>
            </a:r>
          </a:p>
          <a:p>
            <a:r>
              <a:rPr lang="en-US" sz="1400" dirty="0"/>
              <a:t>*</a:t>
            </a:r>
            <a:r>
              <a:rPr lang="en-US" sz="1200" dirty="0"/>
              <a:t>How does the reading relate to your own experiences, studies, or field of interest? </a:t>
            </a:r>
          </a:p>
          <a:p>
            <a:r>
              <a:rPr lang="en-US" sz="1200" dirty="0"/>
              <a:t>*Can the ideas or findings in the article be applied to real-world problems? If so, how? </a:t>
            </a:r>
          </a:p>
          <a:p>
            <a:r>
              <a:rPr lang="en-US" sz="1200" dirty="0"/>
              <a:t>*How might this reading influence your future learning or professional practice?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587E0F-1EB8-AD4A-252C-D1516F32D60A}"/>
              </a:ext>
            </a:extLst>
          </p:cNvPr>
          <p:cNvSpPr txBox="1"/>
          <p:nvPr/>
        </p:nvSpPr>
        <p:spPr>
          <a:xfrm>
            <a:off x="6404498" y="4877721"/>
            <a:ext cx="6400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Personal Reflection </a:t>
            </a:r>
          </a:p>
          <a:p>
            <a:r>
              <a:rPr lang="en-US" sz="1200" dirty="0"/>
              <a:t>What did you learn about yourself or your own thinking from engaging with this reading?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0A8A25-435F-A8F1-CF80-B8F9A517B288}"/>
              </a:ext>
            </a:extLst>
          </p:cNvPr>
          <p:cNvSpPr txBox="1"/>
          <p:nvPr/>
        </p:nvSpPr>
        <p:spPr>
          <a:xfrm>
            <a:off x="6423160" y="5460595"/>
            <a:ext cx="6400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 Synthesis and Further Exploration </a:t>
            </a:r>
          </a:p>
          <a:p>
            <a:r>
              <a:rPr lang="en-US" sz="1200" dirty="0"/>
              <a:t>What questions do you still have after reading the article? </a:t>
            </a:r>
          </a:p>
          <a:p>
            <a:r>
              <a:rPr lang="en-US" sz="1200" dirty="0"/>
              <a:t>What additional research would you like to do based on this reading? </a:t>
            </a:r>
          </a:p>
        </p:txBody>
      </p:sp>
    </p:spTree>
    <p:extLst>
      <p:ext uri="{BB962C8B-B14F-4D97-AF65-F5344CB8AC3E}">
        <p14:creationId xmlns:p14="http://schemas.microsoft.com/office/powerpoint/2010/main" val="1576928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7645-D8E6-23DE-A822-448BF105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065" y="1296232"/>
            <a:ext cx="5202195" cy="846833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solidFill>
                  <a:srgbClr val="32418C"/>
                </a:solidFill>
              </a:rPr>
              <a:t>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B1F63E-8A36-E1B7-9716-1D24F08C2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87" y="2599397"/>
            <a:ext cx="10025063" cy="2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78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911E-66F4-6D4C-313C-20A934D5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E5AE-D31F-3621-7A2E-1539CAF69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5583"/>
            <a:ext cx="10515600" cy="846833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solidFill>
                  <a:srgbClr val="32418C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97623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2BB2A6FB697749A8EBDFE68537FD23" ma:contentTypeVersion="7" ma:contentTypeDescription="Create a new document." ma:contentTypeScope="" ma:versionID="4b4c54f63c9bbd378b57c654dc95f53d">
  <xsd:schema xmlns:xsd="http://www.w3.org/2001/XMLSchema" xmlns:xs="http://www.w3.org/2001/XMLSchema" xmlns:p="http://schemas.microsoft.com/office/2006/metadata/properties" xmlns:ns2="2603620c-ab97-4d43-ac76-cf93b7043106" targetNamespace="http://schemas.microsoft.com/office/2006/metadata/properties" ma:root="true" ma:fieldsID="4370c21ec6dcbf9b09395109880dc7bf" ns2:_="">
    <xsd:import namespace="2603620c-ab97-4d43-ac76-cf93b70431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03620c-ab97-4d43-ac76-cf93b70431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488716-A6AB-4D6F-BEC4-67FC5CC2C891}">
  <ds:schemaRefs>
    <ds:schemaRef ds:uri="http://schemas.microsoft.com/office/2006/metadata/properties"/>
    <ds:schemaRef ds:uri="http://schemas.microsoft.com/office/infopath/2007/PartnerControls"/>
    <ds:schemaRef ds:uri="8d904bc5-65f5-4550-a41f-f59f4b22fd81"/>
    <ds:schemaRef ds:uri="5368722f-5c0e-44ab-9e56-ec2b65983b2a"/>
  </ds:schemaRefs>
</ds:datastoreItem>
</file>

<file path=customXml/itemProps2.xml><?xml version="1.0" encoding="utf-8"?>
<ds:datastoreItem xmlns:ds="http://schemas.openxmlformats.org/officeDocument/2006/customXml" ds:itemID="{C816C0DE-0CBA-4BCB-B21A-0834AE56DEE9}"/>
</file>

<file path=customXml/itemProps3.xml><?xml version="1.0" encoding="utf-8"?>
<ds:datastoreItem xmlns:ds="http://schemas.openxmlformats.org/officeDocument/2006/customXml" ds:itemID="{B3194067-5D87-4B72-9A98-6005FF2AB5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1045</TotalTime>
  <Words>778</Words>
  <Application>Microsoft Office PowerPoint</Application>
  <PresentationFormat>Widescreen</PresentationFormat>
  <Paragraphs>120</Paragraphs>
  <Slides>15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Introduction  to Project Management</vt:lpstr>
      <vt:lpstr>Objectives</vt:lpstr>
      <vt:lpstr>Overview of Project Management and Its Relevance to IT</vt:lpstr>
      <vt:lpstr>Overview of Project Management and Its Relevance to IT</vt:lpstr>
      <vt:lpstr>Overview of Project Management and Its Relevance to IT</vt:lpstr>
      <vt:lpstr>Roles and Responsibilities in IT Projects</vt:lpstr>
      <vt:lpstr>Introduction to PMI and the PMBOK Guide</vt:lpstr>
      <vt:lpstr>Introduction to PMI and the PMBOK Guide</vt:lpstr>
      <vt:lpstr>Challenges in IT Project Management</vt:lpstr>
      <vt:lpstr>Best Practices for IT PM Success</vt:lpstr>
      <vt:lpstr>Summary</vt:lpstr>
      <vt:lpstr>Group Activity</vt:lpstr>
      <vt:lpstr>Individual Activity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Title</dc:title>
  <dc:creator>Palenzuela, Ronnel</dc:creator>
  <cp:lastModifiedBy>Leonila B. Valdez</cp:lastModifiedBy>
  <cp:revision>104</cp:revision>
  <dcterms:created xsi:type="dcterms:W3CDTF">2024-08-08T01:29:50Z</dcterms:created>
  <dcterms:modified xsi:type="dcterms:W3CDTF">2025-07-25T08:26:32Z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  <property fmtid="{D5CDD505-2E9C-101B-9397-08002B2CF9AE}" pid="9" name="ContentTypeId">
    <vt:lpwstr>0x0101001E2BB2A6FB697749A8EBDFE68537FD23</vt:lpwstr>
  </property>
  <property fmtid="{D5CDD505-2E9C-101B-9397-08002B2CF9AE}" pid="10" name="MediaServiceImageTags">
    <vt:lpwstr/>
  </property>
</Properties>
</file>